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Image Compression using the 2D Discrete Cosine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E5E7EB"/>
                </a:solidFill>
              </a:rPr>
              <a:t>A JPEG-baseline style codec with rate-distortion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IC2306  —  Signal and Image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</a:rPr>
              <a:t>Course project  •  Presented by 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we will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•  Why compress images at all — the information-theoretic motivation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•  From the DFT to the DCT — and why the DCT is the right tool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•  The 2D DCT in matrix form, and what its 64 basis images look like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•  Quantisation — where the loss actually happens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•  System design: encoder, decoder, quality factor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•  Results on the 512×512 ‘ascent’ image at Q = 10, 20, 50, 90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•  Rate–distortion analysis and where the reconstruction error lives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•  Discussion, limitations, and future extensions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Why compress images?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A 512×512 8-bit grayscale image is 256 KB of raw pixel data.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Neighbouring pixels are strongly correlated — most of that data is redundant.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The human eye is far more sensitive to low-frequency detail than to high.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A good codec should exploit both: decorrelate, then throw away what cannot be seen.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JPEG does this with three stages — we will reproduce the first two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D97706"/>
                </a:solidFill>
              </a:rPr>
              <a:t>Goal: not to produce a JPEG file, but to make the mathematics visible.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Mapping to the IC2306 syllabus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CO1 – sampling &amp; LTI operations → used implicitly in block-wise DCT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CO2 – DFT and FFT → DCT is derived from an even-symmetric DFT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CO3 – filter design → quantisation acts like a spatial low-pass filter with varying cutoff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CO4 – pixel operations → level shift, padding, clipping, block traversal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CO5 – image transforms → 2D DCT basis, separability, energy compaction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CO6 – image enhancement &amp; restoration → blocking &amp; ringing as predictable artefacts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Mathematics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From the DFT to the DCT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The DFT of a real block is complex — every coefficient needs two numbers.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The implied periodic extension is discontinuous — creates spurious high-frequency energy.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Extending the signal even-symmetrically before transforming fixes both issues.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10972800" cy="2286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</a:rPr>
              <a:t>DCT-II of length 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1F2A44"/>
                </a:solidFill>
              </a:rPr>
              <a:t>X[k] = α(k) · Σₙ x[n] · cos( (2n+1) k π / (2N) ),   k = 0 … N−1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</a:rPr>
              <a:t>with α(0) = √(1/N),   α(k) = √(2/N) for k &gt;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706"/>
                </a:solidFill>
              </a:rPr>
              <a:t>Result: real coefficients, smoother periodic extension, better energy compaction.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Mathematics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2D DCT is separable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Build T once: T[k,n] = α(k) cos((2n+1)kπ/2N)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T is orthonormal, so T⁻¹ = Tᵀ.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2D DCT of an 8×8 block: F = T · f · Tᵀ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2D IDCT: f = Tᵀ · F · 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Separability cuts cost from O(N⁴) to O(N³).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Basis images are outer products — see right.</a:t>
            </a:r>
          </a:p>
        </p:txBody>
      </p:sp>
      <p:pic>
        <p:nvPicPr>
          <p:cNvPr id="6" name="Picture 5" descr="fig_dct_b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Mathematics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Quantisation is where loss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F_q(u,v) = round( F(u,v) / Q'(u,v) )     — only lossy step in the pipeline.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Q' is the IJG luminance table scaled by the quality factor.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High-frequency coefficients get larger divisors → more zeros after rounding.</a:t>
            </a:r>
          </a:p>
        </p:txBody>
      </p:sp>
      <p:pic>
        <p:nvPicPr>
          <p:cNvPr id="6" name="Picture 5" descr="fig_quantizat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3280"/>
            <a:ext cx="10972800" cy="35249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Mathematics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One integer controls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Scale factor:   scale = 5000 / Q   if Q &lt; 50,   scale = 200 − 2Q  otherwise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Q'(u,v) = max(1, round( Q₅₀(u,v) · scale / 100 ))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Lower Q ⇒ bigger divisors ⇒ more zeros ⇒ lower entropy AND more detail lost.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Measure distortion with PSNR = 20 · log₁₀(255 / √MSE).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Measure rate with Shannon entropy of the quantised coefficient stream.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block diagram</a:t>
            </a:r>
          </a:p>
        </p:txBody>
      </p:sp>
      <p:pic>
        <p:nvPicPr>
          <p:cNvPr id="5" name="Picture 4" descr="fig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1543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Walk-through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One 8×8 block end to end</a:t>
            </a:r>
          </a:p>
        </p:txBody>
      </p:sp>
      <p:pic>
        <p:nvPicPr>
          <p:cNvPr id="5" name="Picture 4" descr="fig_block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073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706"/>
                </a:solidFill>
              </a:rPr>
              <a:t>At Q=30: 57 non-zero DCT coefficients collapse to 6 after quantisation — block PSNR is still 36.4 dB.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Python / NumPy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dct_compression.py – pure DSP; no plotting, no file I/O.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run_project.py – driver that generates every figure you see.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DCT matrix built once at import time; reused for every block.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Verified: T·Tᵀ = I to 1e−14; dct2(idct2(·)) is an identity to float precision.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31920"/>
            <a:ext cx="10972800" cy="2468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F2A44"/>
                </a:solidFill>
                <a:latin typeface="Consolas"/>
              </a:rPr>
              <a:t>def build_dct_matrix(n=8):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k = np.arange(n).reshape(-1, 1)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i = np.arange(n).reshape(1, -1)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T = np.cos((2*i + 1) * k * np.pi / (2*n))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T *= np.sqrt(2.0 / n)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T[0, :] *= 1.0 / np.sqrt(2.0)</a:t>
            </a:r>
          </a:p>
          <a:p>
            <a:r>
              <a:rPr sz="1400">
                <a:solidFill>
                  <a:srgbClr val="1F2A44"/>
                </a:solidFill>
                <a:latin typeface="Consolas"/>
              </a:rPr>
              <a:t>    return 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Results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Reconstruction across quality factors</a:t>
            </a:r>
          </a:p>
        </p:txBody>
      </p:sp>
      <p:pic>
        <p:nvPicPr>
          <p:cNvPr id="5" name="Picture 4" descr="fig_reconstructi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27031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Results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Numerical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1097280" cy="685800"/>
          </a:xfrm>
          <a:prstGeom prst="rect">
            <a:avLst/>
          </a:prstGeom>
          <a:solidFill>
            <a:srgbClr val="1F2A44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276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463040"/>
            <a:ext cx="1828800" cy="685800"/>
          </a:xfrm>
          <a:prstGeom prst="rect">
            <a:avLst/>
          </a:prstGeom>
          <a:solidFill>
            <a:srgbClr val="1F2A44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627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PSNR (dB)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1645920" cy="685800"/>
          </a:xfrm>
          <a:prstGeom prst="rect">
            <a:avLst/>
          </a:prstGeom>
          <a:solidFill>
            <a:srgbClr val="1F2A44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276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1645920" cy="685800"/>
          </a:xfrm>
          <a:prstGeom prst="rect">
            <a:avLst/>
          </a:prstGeom>
          <a:solidFill>
            <a:srgbClr val="1F2A44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6276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Sparsity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463040"/>
            <a:ext cx="1371600" cy="685800"/>
          </a:xfrm>
          <a:prstGeom prst="rect">
            <a:avLst/>
          </a:prstGeom>
          <a:solidFill>
            <a:srgbClr val="1F2A44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6276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463040"/>
            <a:ext cx="1828800" cy="685800"/>
          </a:xfrm>
          <a:prstGeom prst="rect">
            <a:avLst/>
          </a:prstGeom>
          <a:solidFill>
            <a:srgbClr val="1F2A44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627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148840"/>
            <a:ext cx="109728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3134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148840"/>
            <a:ext cx="182880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3134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42.07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148840"/>
            <a:ext cx="164592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3134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4.04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148840"/>
            <a:ext cx="164592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3134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69.8 %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2148840"/>
            <a:ext cx="137160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23134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2.39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148840"/>
            <a:ext cx="182880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23134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3.35×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2834640"/>
            <a:ext cx="10972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29992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283464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80" y="2999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33.39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834640"/>
            <a:ext cx="16459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9992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29.82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834640"/>
            <a:ext cx="16459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29992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86.0 %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2834640"/>
            <a:ext cx="1371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2999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1.16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283464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2999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6.87×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3520440"/>
            <a:ext cx="109728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36850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3520440"/>
            <a:ext cx="182880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68880" y="36850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29.83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3520440"/>
            <a:ext cx="164592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36850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67.56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520440"/>
            <a:ext cx="164592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36850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91.6 %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3520440"/>
            <a:ext cx="137160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0" y="36850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0.72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3520440"/>
            <a:ext cx="1828800" cy="68580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0" y="36850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11.08×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0" y="4206240"/>
            <a:ext cx="10972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43708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420624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68880" y="43708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27.44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4206240"/>
            <a:ext cx="16459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43708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117.36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4206240"/>
            <a:ext cx="16459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0" y="43708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94.6 %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4206240"/>
            <a:ext cx="1371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20" y="43708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0.47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61120" y="420624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61120" y="43708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F2A44"/>
                </a:solidFill>
              </a:rPr>
              <a:t>16.88×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D97706"/>
                </a:solidFill>
              </a:rPr>
              <a:t>17× compression for ~27 dB PSNR; 3.4× compression for visually lossless 42 dB.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Results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Rate–distortion trade-off</a:t>
            </a:r>
          </a:p>
        </p:txBody>
      </p:sp>
      <p:pic>
        <p:nvPicPr>
          <p:cNvPr id="5" name="Picture 4" descr="fig_rate_distor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486400" cy="3029723"/>
          </a:xfrm>
          <a:prstGeom prst="rect">
            <a:avLst/>
          </a:prstGeom>
        </p:spPr>
      </p:pic>
      <p:pic>
        <p:nvPicPr>
          <p:cNvPr id="6" name="Picture 5" descr="fig_bpp_vs_psn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0" cy="33712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</a:rPr>
              <a:t>Concave PSNR vs. bpp curve — diminishing returns past ~1.2 bpp.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Where does the error live?</a:t>
            </a:r>
          </a:p>
        </p:txBody>
      </p:sp>
      <p:pic>
        <p:nvPicPr>
          <p:cNvPr id="5" name="Picture 4" descr="fig_err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37299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97706"/>
                </a:solidFill>
              </a:rPr>
              <a:t>Reconstruction error is concentrated on edges — exactly where high-frequency DCT coefficients live, and exactly where the quantiser is coarsest.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Theory meets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Why compression works — the statistics</a:t>
            </a:r>
          </a:p>
        </p:txBody>
      </p:sp>
      <p:pic>
        <p:nvPicPr>
          <p:cNvPr id="5" name="Picture 4" descr="fig_coeff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9547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</a:rPr>
              <a:t>86 % of quantised coefficients at Q=50 are exactly zero — a single Huffman symbol covers the bulk of the payload.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Limitations &amp; honest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Compression ratios are based on the Shannon bound, not real Huffman coding.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DC differentials and run-length markers are not modelled — small but real overhead.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PSNR is only a loose proxy for perceived quality; SSIM would be more faithful.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Blocking artefacts are a direct consequence of fixed 8×8 tiling — modern codecs use variable-size transforms plus in-loop deblocking.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Only grayscale; extending to RGB would mean YCbCr conversion and a separate chroma 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5E7EB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this project proves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Built a JPEG-baseline codec from scratch in ~250 lines of Python.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Reproduced the textbook rate–distortion curve on a standard test image.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Visualised every intermediate stage — DCT basis, quantised coefficients, error maps.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Directly exercised Units 4 and 5 of IC2306, and Unit 2 via the DFT–DCT relationship.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B5563"/>
                </a:solidFill>
              </a:rPr>
              <a:t>•  Natural next steps: add colour, add real entropy coding, measure SSIM.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E5E7EB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References: Gonzalez &amp; Woods (Ch. 7–8) • Proakis &amp; Manolakis (Ch. 7) • Wallace, CACM 34(4), 1991 • Ahmed, Natarajan &amp; Rao, IEEE TC, 1974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